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introducing the problem. 3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 50 API vendors. Changelogs do not get read.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run the live demo. About 10 seconds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/Users/tianzefang/Desktop/ClaudeCode/Projects/api-patchbay/slides/logo-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868680" cy="86868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731520" y="22402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Patchbay</a:t>
            </a:r>
            <a:endParaRPr lang="en-US" sz="54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API changes, every customer's code gets fixed.</a:t>
            </a:r>
            <a:endParaRPr lang="en-US" sz="2200" dirty="0"/>
          </a:p>
        </p:txBody>
      </p:sp>
      <p:sp>
        <p:nvSpPr>
          <p:cNvPr id="5" name="Footer"/>
          <p:cNvSpPr txBox="1"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c0mpiled-14  |  UC Berkeley  |  Agent-first 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reads the changelog</a:t>
            </a:r>
            <a:endParaRPr lang="en-US" sz="3600" dirty="0"/>
          </a:p>
        </p:txBody>
      </p:sp>
      <p:sp>
        <p:nvSpPr>
          <p:cNvPr id="3" name="Stat"/>
          <p:cNvSpPr txBox="1"/>
          <p:nvPr/>
        </p:nvSpPr>
        <p:spPr>
          <a:xfrm>
            <a:off x="73152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9600" dirty="0"/>
          </a:p>
        </p:txBody>
      </p:sp>
      <p:sp>
        <p:nvSpPr>
          <p:cNvPr id="4" name="Stat label"/>
          <p:cNvSpPr txBox="1"/>
          <p:nvPr/>
        </p:nvSpPr>
        <p:spPr>
          <a:xfrm>
            <a:off x="731520" y="28803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service downtime at AWS came from external API and package changes nobody noticed (per the YC RFS author, ex-AWS).</a:t>
            </a:r>
            <a:endParaRPr lang="en-US" sz="1600" dirty="0"/>
          </a:p>
        </p:txBody>
      </p:sp>
      <p:sp>
        <p:nvSpPr>
          <p:cNvPr id="5" name="Card 1"/>
          <p:cNvSpPr/>
          <p:nvPr/>
        </p:nvSpPr>
        <p:spPr>
          <a:xfrm>
            <a:off x="4572000" y="1417320"/>
            <a:ext cx="3840480" cy="868680"/>
          </a:xfrm>
          <a:prstGeom prst="roundRect">
            <a:avLst>
              <a:gd name="adj" fmla="val 8421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6" name="Ring 1"/>
          <p:cNvSpPr/>
          <p:nvPr/>
        </p:nvSpPr>
        <p:spPr>
          <a:xfrm>
            <a:off x="4754880" y="1600200"/>
            <a:ext cx="502920" cy="5029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7" name="Ring 1 label"/>
          <p:cNvSpPr txBox="1"/>
          <p:nvPr/>
        </p:nvSpPr>
        <p:spPr>
          <a:xfrm>
            <a:off x="47548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Card text 1"/>
          <p:cNvSpPr txBox="1"/>
          <p:nvPr/>
        </p:nvSpPr>
        <p:spPr>
          <a:xfrm>
            <a:off x="5440680" y="1417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ship with little warning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fail in production first.</a:t>
            </a:r>
            <a:endParaRPr lang="en-US" sz="1600" dirty="0"/>
          </a:p>
        </p:txBody>
      </p:sp>
      <p:sp>
        <p:nvSpPr>
          <p:cNvPr id="9" name="Card 2"/>
          <p:cNvSpPr/>
          <p:nvPr/>
        </p:nvSpPr>
        <p:spPr>
          <a:xfrm>
            <a:off x="4572000" y="2423160"/>
            <a:ext cx="3840480" cy="868680"/>
          </a:xfrm>
          <a:prstGeom prst="roundRect">
            <a:avLst>
              <a:gd name="adj" fmla="val 8421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0" name="Ring 2"/>
          <p:cNvSpPr/>
          <p:nvPr/>
        </p:nvSpPr>
        <p:spPr>
          <a:xfrm>
            <a:off x="4754880" y="2606040"/>
            <a:ext cx="502920" cy="5029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11" name="Ring 2 label"/>
          <p:cNvSpPr txBox="1"/>
          <p:nvPr/>
        </p:nvSpPr>
        <p:spPr>
          <a:xfrm>
            <a:off x="47548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Card text 2"/>
          <p:cNvSpPr txBox="1"/>
          <p:nvPr/>
        </p:nvSpPr>
        <p:spPr>
          <a:xfrm>
            <a:off x="5440680" y="24231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features launch unnoticed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never adopt them.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4572000" y="3429000"/>
            <a:ext cx="3840480" cy="868680"/>
          </a:xfrm>
          <a:prstGeom prst="roundRect">
            <a:avLst>
              <a:gd name="adj" fmla="val 8421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4" name="Ring 3"/>
          <p:cNvSpPr/>
          <p:nvPr/>
        </p:nvSpPr>
        <p:spPr>
          <a:xfrm>
            <a:off x="4754880" y="3611880"/>
            <a:ext cx="502920" cy="5029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15" name="Ring 3 label"/>
          <p:cNvSpPr txBox="1"/>
          <p:nvPr/>
        </p:nvSpPr>
        <p:spPr>
          <a:xfrm>
            <a:off x="47548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Card text 3"/>
          <p:cNvSpPr txBox="1"/>
          <p:nvPr/>
        </p:nvSpPr>
        <p:spPr>
          <a:xfrm>
            <a:off x="5440680" y="34290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it meant editing every customer repo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providers announce and hope.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731520" y="1508760"/>
            <a:ext cx="1645920" cy="2331720"/>
          </a:xfrm>
          <a:prstGeom prst="roundRect">
            <a:avLst>
              <a:gd name="adj" fmla="val 4444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4" name="Step ring 1"/>
          <p:cNvSpPr/>
          <p:nvPr/>
        </p:nvSpPr>
        <p:spPr>
          <a:xfrm>
            <a:off x="868680" y="1691640"/>
            <a:ext cx="457200" cy="45720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5" name="Step ring 1 label"/>
          <p:cNvSpPr txBox="1"/>
          <p:nvPr/>
        </p:nvSpPr>
        <p:spPr>
          <a:xfrm>
            <a:off x="8686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tep title 1"/>
          <p:cNvSpPr txBox="1"/>
          <p:nvPr/>
        </p:nvSpPr>
        <p:spPr>
          <a:xfrm>
            <a:off x="868680" y="2286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feed</a:t>
            </a:r>
            <a:endParaRPr lang="en-US" sz="1800" dirty="0"/>
          </a:p>
        </p:txBody>
      </p:sp>
      <p:sp>
        <p:nvSpPr>
          <p:cNvPr id="7" name="Step text 1"/>
          <p:cNvSpPr txBox="1"/>
          <p:nvPr/>
        </p:nvSpPr>
        <p:spPr>
          <a:xfrm>
            <a:off x="868680" y="269748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publishes changes.json from its OpenAPI spec.</a:t>
            </a:r>
            <a:endParaRPr lang="en-US" sz="1400" dirty="0"/>
          </a:p>
        </p:txBody>
      </p:sp>
      <p:sp>
        <p:nvSpPr>
          <p:cNvPr id="8" name="Arrow 1"/>
          <p:cNvSpPr txBox="1"/>
          <p:nvPr/>
        </p:nvSpPr>
        <p:spPr>
          <a:xfrm>
            <a:off x="23774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tep card 2"/>
          <p:cNvSpPr/>
          <p:nvPr/>
        </p:nvSpPr>
        <p:spPr>
          <a:xfrm>
            <a:off x="2743200" y="1508760"/>
            <a:ext cx="1645920" cy="2331720"/>
          </a:xfrm>
          <a:prstGeom prst="roundRect">
            <a:avLst>
              <a:gd name="adj" fmla="val 4444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0" name="Step ring 2"/>
          <p:cNvSpPr/>
          <p:nvPr/>
        </p:nvSpPr>
        <p:spPr>
          <a:xfrm>
            <a:off x="2880360" y="1691640"/>
            <a:ext cx="457200" cy="45720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11" name="Step ring 2 label"/>
          <p:cNvSpPr txBox="1"/>
          <p:nvPr/>
        </p:nvSpPr>
        <p:spPr>
          <a:xfrm>
            <a:off x="2880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tep title 2"/>
          <p:cNvSpPr txBox="1"/>
          <p:nvPr/>
        </p:nvSpPr>
        <p:spPr>
          <a:xfrm>
            <a:off x="2880360" y="2286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agent</a:t>
            </a:r>
            <a:endParaRPr lang="en-US" sz="1800" dirty="0"/>
          </a:p>
        </p:txBody>
      </p:sp>
      <p:sp>
        <p:nvSpPr>
          <p:cNvPr id="13" name="Step text 2"/>
          <p:cNvSpPr txBox="1"/>
          <p:nvPr/>
        </p:nvSpPr>
        <p:spPr>
          <a:xfrm>
            <a:off x="2880360" y="269748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affected calls and writes a patch.</a:t>
            </a:r>
            <a:endParaRPr lang="en-US" sz="1400" dirty="0"/>
          </a:p>
        </p:txBody>
      </p:sp>
      <p:sp>
        <p:nvSpPr>
          <p:cNvPr id="14" name="Arrow 2"/>
          <p:cNvSpPr txBox="1"/>
          <p:nvPr/>
        </p:nvSpPr>
        <p:spPr>
          <a:xfrm>
            <a:off x="43891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tep card 3"/>
          <p:cNvSpPr/>
          <p:nvPr/>
        </p:nvSpPr>
        <p:spPr>
          <a:xfrm>
            <a:off x="4754880" y="1508760"/>
            <a:ext cx="1645920" cy="2331720"/>
          </a:xfrm>
          <a:prstGeom prst="roundRect">
            <a:avLst>
              <a:gd name="adj" fmla="val 4444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6" name="Step ring 3"/>
          <p:cNvSpPr/>
          <p:nvPr/>
        </p:nvSpPr>
        <p:spPr>
          <a:xfrm>
            <a:off x="4892040" y="1691640"/>
            <a:ext cx="457200" cy="45720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17" name="Step ring 3 label"/>
          <p:cNvSpPr txBox="1"/>
          <p:nvPr/>
        </p:nvSpPr>
        <p:spPr>
          <a:xfrm>
            <a:off x="48920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tep title 3"/>
          <p:cNvSpPr txBox="1"/>
          <p:nvPr/>
        </p:nvSpPr>
        <p:spPr>
          <a:xfrm>
            <a:off x="4892040" y="2286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Freestyle VM</a:t>
            </a:r>
            <a:endParaRPr lang="en-US" sz="1800" dirty="0"/>
          </a:p>
        </p:txBody>
      </p:sp>
      <p:sp>
        <p:nvSpPr>
          <p:cNvPr id="19" name="Step text 3"/>
          <p:cNvSpPr txBox="1"/>
          <p:nvPr/>
        </p:nvSpPr>
        <p:spPr>
          <a:xfrm>
            <a:off x="4892040" y="269748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patch in a clean VM. Retries from a snapshot.</a:t>
            </a:r>
            <a:endParaRPr lang="en-US" sz="1400" dirty="0"/>
          </a:p>
        </p:txBody>
      </p:sp>
      <p:sp>
        <p:nvSpPr>
          <p:cNvPr id="20" name="Arrow 3"/>
          <p:cNvSpPr txBox="1"/>
          <p:nvPr/>
        </p:nvSpPr>
        <p:spPr>
          <a:xfrm>
            <a:off x="64008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tep card 4"/>
          <p:cNvSpPr/>
          <p:nvPr/>
        </p:nvSpPr>
        <p:spPr>
          <a:xfrm>
            <a:off x="6766560" y="1508760"/>
            <a:ext cx="1645920" cy="2331720"/>
          </a:xfrm>
          <a:prstGeom prst="roundRect">
            <a:avLst>
              <a:gd name="adj" fmla="val 4444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22" name="Step ring 4"/>
          <p:cNvSpPr/>
          <p:nvPr/>
        </p:nvSpPr>
        <p:spPr>
          <a:xfrm>
            <a:off x="6903720" y="1691640"/>
            <a:ext cx="457200" cy="45720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23" name="Step ring 4 label"/>
          <p:cNvSpPr txBox="1"/>
          <p:nvPr/>
        </p:nvSpPr>
        <p:spPr>
          <a:xfrm>
            <a:off x="69037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tep title 4"/>
          <p:cNvSpPr txBox="1"/>
          <p:nvPr/>
        </p:nvSpPr>
        <p:spPr>
          <a:xfrm>
            <a:off x="6903720" y="2286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800" dirty="0"/>
          </a:p>
        </p:txBody>
      </p:sp>
      <p:sp>
        <p:nvSpPr>
          <p:cNvPr id="25" name="Step text 4"/>
          <p:cNvSpPr txBox="1"/>
          <p:nvPr/>
        </p:nvSpPr>
        <p:spPr>
          <a:xfrm>
            <a:off x="6903720" y="269748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plus test result. A human merges.</a:t>
            </a:r>
            <a:endParaRPr lang="en-US" sz="1400" dirty="0"/>
          </a:p>
        </p:txBody>
      </p:sp>
      <p:sp>
        <p:nvSpPr>
          <p:cNvPr id="26" name="Caption"/>
          <p:cNvSpPr txBox="1"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coding agent can read the same feed through an AGENTS.md snippet.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Next card 1"/>
          <p:cNvSpPr/>
          <p:nvPr/>
        </p:nvSpPr>
        <p:spPr>
          <a:xfrm>
            <a:off x="731520" y="1417320"/>
            <a:ext cx="2377440" cy="2697480"/>
          </a:xfrm>
          <a:prstGeom prst="roundRect">
            <a:avLst>
              <a:gd name="adj" fmla="val 3077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4" name="Next ring 1"/>
          <p:cNvSpPr/>
          <p:nvPr/>
        </p:nvSpPr>
        <p:spPr>
          <a:xfrm>
            <a:off x="914400" y="1600200"/>
            <a:ext cx="502920" cy="5029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5" name="Next ring 1 label"/>
          <p:cNvSpPr txBox="1"/>
          <p:nvPr/>
        </p:nvSpPr>
        <p:spPr>
          <a:xfrm>
            <a:off x="914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Next title 1"/>
          <p:cNvSpPr txBox="1"/>
          <p:nvPr/>
        </p:nvSpPr>
        <p:spPr>
          <a:xfrm>
            <a:off x="91440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providers</a:t>
            </a:r>
            <a:endParaRPr lang="en-US" sz="2000" dirty="0"/>
          </a:p>
        </p:txBody>
      </p:sp>
      <p:sp>
        <p:nvSpPr>
          <p:cNvPr id="7" name="Next text 1"/>
          <p:cNvSpPr txBox="1"/>
          <p:nvPr/>
        </p:nvSpPr>
        <p:spPr>
          <a:xfrm>
            <a:off x="914400" y="269748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Stripe's OpenAPI spec. Fintech and health APIs first, where a broken integration is a compliance incident.</a:t>
            </a:r>
            <a:endParaRPr lang="en-US" sz="1400" dirty="0"/>
          </a:p>
        </p:txBody>
      </p:sp>
      <p:sp>
        <p:nvSpPr>
          <p:cNvPr id="8" name="Next card 2"/>
          <p:cNvSpPr/>
          <p:nvPr/>
        </p:nvSpPr>
        <p:spPr>
          <a:xfrm>
            <a:off x="3383280" y="1417320"/>
            <a:ext cx="2377440" cy="2697480"/>
          </a:xfrm>
          <a:prstGeom prst="roundRect">
            <a:avLst>
              <a:gd name="adj" fmla="val 3077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9" name="Next ring 2"/>
          <p:cNvSpPr/>
          <p:nvPr/>
        </p:nvSpPr>
        <p:spPr>
          <a:xfrm>
            <a:off x="3566160" y="1600200"/>
            <a:ext cx="502920" cy="5029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10" name="Next ring 2 label"/>
          <p:cNvSpPr txBox="1"/>
          <p:nvPr/>
        </p:nvSpPr>
        <p:spPr>
          <a:xfrm>
            <a:off x="35661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Next title 2"/>
          <p:cNvSpPr txBox="1"/>
          <p:nvPr/>
        </p:nvSpPr>
        <p:spPr>
          <a:xfrm>
            <a:off x="356616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ship</a:t>
            </a:r>
            <a:endParaRPr lang="en-US" sz="2000" dirty="0"/>
          </a:p>
        </p:txBody>
      </p:sp>
      <p:sp>
        <p:nvSpPr>
          <p:cNvPr id="12" name="Next text 2"/>
          <p:cNvSpPr txBox="1"/>
          <p:nvPr/>
        </p:nvSpPr>
        <p:spPr>
          <a:xfrm>
            <a:off x="3566160" y="269748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agents ("install Acme Pay's update agent") or one neutral service that tracks many vendors.</a:t>
            </a:r>
            <a:endParaRPr lang="en-US" sz="1400" dirty="0"/>
          </a:p>
        </p:txBody>
      </p:sp>
      <p:sp>
        <p:nvSpPr>
          <p:cNvPr id="13" name="Next card 3"/>
          <p:cNvSpPr/>
          <p:nvPr/>
        </p:nvSpPr>
        <p:spPr>
          <a:xfrm>
            <a:off x="6035040" y="1417320"/>
            <a:ext cx="2377440" cy="2697480"/>
          </a:xfrm>
          <a:prstGeom prst="roundRect">
            <a:avLst>
              <a:gd name="adj" fmla="val 3077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4" name="Next ring 3"/>
          <p:cNvSpPr/>
          <p:nvPr/>
        </p:nvSpPr>
        <p:spPr>
          <a:xfrm>
            <a:off x="6217920" y="1600200"/>
            <a:ext cx="502920" cy="5029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sp>
        <p:nvSpPr>
          <p:cNvPr id="15" name="Next ring 3 label"/>
          <p:cNvSpPr txBox="1"/>
          <p:nvPr/>
        </p:nvSpPr>
        <p:spPr>
          <a:xfrm>
            <a:off x="62179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Next title 3"/>
          <p:cNvSpPr txBox="1"/>
          <p:nvPr/>
        </p:nvSpPr>
        <p:spPr>
          <a:xfrm>
            <a:off x="6217920" y="2286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pay</a:t>
            </a:r>
            <a:endParaRPr lang="en-US" sz="2000" dirty="0"/>
          </a:p>
        </p:txBody>
      </p:sp>
      <p:sp>
        <p:nvSpPr>
          <p:cNvPr id="17" name="Next text 3"/>
          <p:cNvSpPr txBox="1"/>
          <p:nvPr/>
        </p:nvSpPr>
        <p:spPr>
          <a:xfrm>
            <a:off x="6217920" y="269748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own the cost of unread changelogs. Customers review and merge for free.</a:t>
            </a:r>
            <a:endParaRPr lang="en-US" sz="1400" dirty="0"/>
          </a:p>
        </p:txBody>
      </p:sp>
      <p:sp>
        <p:nvSpPr>
          <p:cNvPr id="18" name="Closing line"/>
          <p:cNvSpPr txBox="1"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once. Every customer is patched.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Patchbay</dc:title>
  <dc:subject>PptxGenJS Presentation</dc:subject>
  <dc:creator>PptxGenJS</dc:creator>
  <cp:lastModifiedBy>PptxGenJS</cp:lastModifiedBy>
  <cp:revision>1</cp:revision>
  <dcterms:created xsi:type="dcterms:W3CDTF">2026-10-17T19:36:34Z</dcterms:created>
  <dcterms:modified xsi:type="dcterms:W3CDTF">2026-10-17T19:36:34Z</dcterms:modified>
</cp:coreProperties>
</file>