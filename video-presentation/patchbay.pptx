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Title. 3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AWS, over 30% of downtime came from API changes nobody noticed. 10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Optional. Real OpenAI change: model became required, user deprecated for safety_identifier.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10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API Patchbay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77240"/>
            <a:ext cx="868680" cy="86868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224028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Patchbay</a:t>
            </a:r>
            <a:endParaRPr lang="en-US" sz="5400" dirty="0"/>
          </a:p>
        </p:txBody>
      </p:sp>
      <p:sp>
        <p:nvSpPr>
          <p:cNvPr id="4" name="Subtitle"/>
          <p:cNvSpPr txBox="1"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API changes, every developer team gets a tested fix.</a:t>
            </a:r>
            <a:endParaRPr lang="en-US" sz="2200" dirty="0"/>
          </a:p>
        </p:txBody>
      </p:sp>
      <p:sp>
        <p:nvSpPr>
          <p:cNvPr id="5" name="Footer"/>
          <p:cNvSpPr txBox="1"/>
          <p:nvPr/>
        </p:nvSpPr>
        <p:spPr>
          <a:xfrm>
            <a:off x="731520" y="4480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c0mpiled-14  |  UC Berkeley  |  Agent-first software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reads the changelog</a:t>
            </a:r>
            <a:endParaRPr lang="en-US" sz="3600" dirty="0"/>
          </a:p>
        </p:txBody>
      </p:sp>
      <p:pic>
        <p:nvPicPr>
          <p:cNvPr id="3" name="Downtime ring" descr="30% of AWS downtime came from external API and package chan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280160"/>
            <a:ext cx="2926080" cy="2926080"/>
          </a:xfrm>
          <a:prstGeom prst="rect">
            <a:avLst/>
          </a:prstGeom>
        </p:spPr>
      </p:pic>
      <p:sp>
        <p:nvSpPr>
          <p:cNvPr id="4" name="Doughnut center"/>
          <p:cNvSpPr txBox="1"/>
          <p:nvPr/>
        </p:nvSpPr>
        <p:spPr>
          <a:xfrm>
            <a:off x="868680" y="12801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2A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5400" dirty="0"/>
          </a:p>
        </p:txBody>
      </p:sp>
      <p:sp>
        <p:nvSpPr>
          <p:cNvPr id="5" name="Chart caption"/>
          <p:cNvSpPr txBox="1"/>
          <p:nvPr/>
        </p:nvSpPr>
        <p:spPr>
          <a:xfrm>
            <a:off x="731520" y="42976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AWS downtime: API changes nobody noticed (RFS author, ex-AWS)</a:t>
            </a:r>
            <a:endParaRPr lang="en-US" sz="1200" dirty="0"/>
          </a:p>
        </p:txBody>
      </p:sp>
      <p:sp>
        <p:nvSpPr>
          <p:cNvPr id="6" name="Row card 1"/>
          <p:cNvSpPr/>
          <p:nvPr/>
        </p:nvSpPr>
        <p:spPr>
          <a:xfrm>
            <a:off x="4572000" y="141732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1F222A"/>
          </a:solidFill>
          <a:ln w="9525">
            <a:solidFill>
              <a:srgbClr val="343843"/>
            </a:solidFill>
            <a:prstDash val="solid"/>
          </a:ln>
        </p:spPr>
      </p:sp>
      <p:sp>
        <p:nvSpPr>
          <p:cNvPr id="7" name="Row 1 ring"/>
          <p:cNvSpPr/>
          <p:nvPr/>
        </p:nvSpPr>
        <p:spPr>
          <a:xfrm>
            <a:off x="4754880" y="1554480"/>
            <a:ext cx="548640" cy="54864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8" name="Row 1 icon" descr="Row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3013" y="1702613"/>
            <a:ext cx="252374" cy="252374"/>
          </a:xfrm>
          <a:prstGeom prst="rect">
            <a:avLst/>
          </a:prstGeom>
        </p:spPr>
      </p:pic>
      <p:sp>
        <p:nvSpPr>
          <p:cNvPr id="9" name="Row text 1"/>
          <p:cNvSpPr txBox="1"/>
          <p:nvPr/>
        </p:nvSpPr>
        <p:spPr>
          <a:xfrm>
            <a:off x="5486400" y="14173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changes, no warning</a:t>
            </a:r>
            <a:endParaRPr lang="en-US" sz="1600" dirty="0"/>
          </a:p>
        </p:txBody>
      </p:sp>
      <p:sp>
        <p:nvSpPr>
          <p:cNvPr id="10" name="Row card 2"/>
          <p:cNvSpPr/>
          <p:nvPr/>
        </p:nvSpPr>
        <p:spPr>
          <a:xfrm>
            <a:off x="4572000" y="242316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1F222A"/>
          </a:solidFill>
          <a:ln w="9525">
            <a:solidFill>
              <a:srgbClr val="343843"/>
            </a:solidFill>
            <a:prstDash val="solid"/>
          </a:ln>
        </p:spPr>
      </p:sp>
      <p:sp>
        <p:nvSpPr>
          <p:cNvPr id="11" name="Row 2 ring"/>
          <p:cNvSpPr/>
          <p:nvPr/>
        </p:nvSpPr>
        <p:spPr>
          <a:xfrm>
            <a:off x="4754880" y="2560320"/>
            <a:ext cx="548640" cy="54864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12" name="Row 2 icon" descr="Row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013" y="2708453"/>
            <a:ext cx="252374" cy="252374"/>
          </a:xfrm>
          <a:prstGeom prst="rect">
            <a:avLst/>
          </a:prstGeom>
        </p:spPr>
      </p:pic>
      <p:sp>
        <p:nvSpPr>
          <p:cNvPr id="13" name="Row text 2"/>
          <p:cNvSpPr txBox="1"/>
          <p:nvPr/>
        </p:nvSpPr>
        <p:spPr>
          <a:xfrm>
            <a:off x="5486400" y="2423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features go unseen</a:t>
            </a:r>
            <a:endParaRPr lang="en-US" sz="1600" dirty="0"/>
          </a:p>
        </p:txBody>
      </p:sp>
      <p:sp>
        <p:nvSpPr>
          <p:cNvPr id="14" name="Row card 3"/>
          <p:cNvSpPr/>
          <p:nvPr/>
        </p:nvSpPr>
        <p:spPr>
          <a:xfrm>
            <a:off x="4572000" y="3429000"/>
            <a:ext cx="3840480" cy="822960"/>
          </a:xfrm>
          <a:prstGeom prst="roundRect">
            <a:avLst>
              <a:gd name="adj" fmla="val 8889"/>
            </a:avLst>
          </a:prstGeom>
          <a:solidFill>
            <a:srgbClr val="1F222A"/>
          </a:solidFill>
          <a:ln w="9525">
            <a:solidFill>
              <a:srgbClr val="343843"/>
            </a:solidFill>
            <a:prstDash val="solid"/>
          </a:ln>
        </p:spPr>
      </p:sp>
      <p:sp>
        <p:nvSpPr>
          <p:cNvPr id="15" name="Row 3 ring"/>
          <p:cNvSpPr/>
          <p:nvPr/>
        </p:nvSpPr>
        <p:spPr>
          <a:xfrm>
            <a:off x="4754880" y="3566160"/>
            <a:ext cx="548640" cy="54864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16" name="Row 3 icon" descr="Row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013" y="3714293"/>
            <a:ext cx="252374" cy="252374"/>
          </a:xfrm>
          <a:prstGeom prst="rect">
            <a:avLst/>
          </a:prstGeom>
        </p:spPr>
      </p:pic>
      <p:sp>
        <p:nvSpPr>
          <p:cNvPr id="17" name="Row text 3"/>
          <p:cNvSpPr txBox="1"/>
          <p:nvPr/>
        </p:nvSpPr>
        <p:spPr>
          <a:xfrm>
            <a:off x="5486400" y="3429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Changelogs go unread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provider ships once</a:t>
            </a:r>
            <a:endParaRPr lang="en-US" sz="3600" dirty="0"/>
          </a:p>
        </p:txBody>
      </p:sp>
      <p:sp>
        <p:nvSpPr>
          <p:cNvPr id="3" name="Step 1 ring"/>
          <p:cNvSpPr/>
          <p:nvPr/>
        </p:nvSpPr>
        <p:spPr>
          <a:xfrm>
            <a:off x="1234440" y="1280160"/>
            <a:ext cx="640080" cy="64008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4" name="Step 1 icon" descr="Step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262" y="1452982"/>
            <a:ext cx="294437" cy="294437"/>
          </a:xfrm>
          <a:prstGeom prst="rect">
            <a:avLst/>
          </a:prstGeom>
        </p:spPr>
      </p:pic>
      <p:sp>
        <p:nvSpPr>
          <p:cNvPr id="5" name="Step title 1"/>
          <p:cNvSpPr txBox="1"/>
          <p:nvPr/>
        </p:nvSpPr>
        <p:spPr>
          <a:xfrm>
            <a:off x="73152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feed</a:t>
            </a:r>
            <a:endParaRPr lang="en-US" sz="1600" dirty="0"/>
          </a:p>
        </p:txBody>
      </p:sp>
      <p:sp>
        <p:nvSpPr>
          <p:cNvPr id="6" name="Step text 1"/>
          <p:cNvSpPr txBox="1"/>
          <p:nvPr/>
        </p:nvSpPr>
        <p:spPr>
          <a:xfrm>
            <a:off x="73152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publishes</a:t>
            </a:r>
            <a:endParaRPr lang="en-US" sz="1400" dirty="0"/>
          </a:p>
        </p:txBody>
      </p:sp>
      <p:sp>
        <p:nvSpPr>
          <p:cNvPr id="7" name="Arrow 1"/>
          <p:cNvSpPr/>
          <p:nvPr/>
        </p:nvSpPr>
        <p:spPr>
          <a:xfrm>
            <a:off x="1965960" y="1600200"/>
            <a:ext cx="777240" cy="0"/>
          </a:xfrm>
          <a:prstGeom prst="line">
            <a:avLst/>
          </a:prstGeom>
          <a:noFill/>
          <a:ln w="19050">
            <a:solidFill>
              <a:srgbClr val="F2A43A"/>
            </a:solidFill>
            <a:prstDash val="solid"/>
            <a:tailEnd type="triangle"/>
          </a:ln>
        </p:spPr>
      </p:sp>
      <p:sp>
        <p:nvSpPr>
          <p:cNvPr id="8" name="Step 2 ring"/>
          <p:cNvSpPr/>
          <p:nvPr/>
        </p:nvSpPr>
        <p:spPr>
          <a:xfrm>
            <a:off x="3246120" y="1280160"/>
            <a:ext cx="640080" cy="64008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9" name="Step 2 icon" descr="Step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942" y="1452982"/>
            <a:ext cx="294437" cy="294437"/>
          </a:xfrm>
          <a:prstGeom prst="rect">
            <a:avLst/>
          </a:prstGeom>
        </p:spPr>
      </p:pic>
      <p:sp>
        <p:nvSpPr>
          <p:cNvPr id="10" name="Step title 2"/>
          <p:cNvSpPr txBox="1"/>
          <p:nvPr/>
        </p:nvSpPr>
        <p:spPr>
          <a:xfrm>
            <a:off x="274320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agent</a:t>
            </a:r>
            <a:endParaRPr lang="en-US" sz="1600" dirty="0"/>
          </a:p>
        </p:txBody>
      </p:sp>
      <p:sp>
        <p:nvSpPr>
          <p:cNvPr id="11" name="Step text 2"/>
          <p:cNvSpPr txBox="1"/>
          <p:nvPr/>
        </p:nvSpPr>
        <p:spPr>
          <a:xfrm>
            <a:off x="274320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the code</a:t>
            </a:r>
            <a:endParaRPr lang="en-US" sz="1400" dirty="0"/>
          </a:p>
        </p:txBody>
      </p:sp>
      <p:sp>
        <p:nvSpPr>
          <p:cNvPr id="12" name="Arrow 2"/>
          <p:cNvSpPr/>
          <p:nvPr/>
        </p:nvSpPr>
        <p:spPr>
          <a:xfrm>
            <a:off x="3977640" y="1600200"/>
            <a:ext cx="777240" cy="0"/>
          </a:xfrm>
          <a:prstGeom prst="line">
            <a:avLst/>
          </a:prstGeom>
          <a:noFill/>
          <a:ln w="19050">
            <a:solidFill>
              <a:srgbClr val="F2A43A"/>
            </a:solidFill>
            <a:prstDash val="solid"/>
            <a:tailEnd type="triangle"/>
          </a:ln>
        </p:spPr>
      </p:sp>
      <p:sp>
        <p:nvSpPr>
          <p:cNvPr id="13" name="Step 3 ring"/>
          <p:cNvSpPr/>
          <p:nvPr/>
        </p:nvSpPr>
        <p:spPr>
          <a:xfrm>
            <a:off x="5257800" y="1280160"/>
            <a:ext cx="640080" cy="64008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14" name="Step 3 icon" descr="Step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0622" y="1452982"/>
            <a:ext cx="294437" cy="294437"/>
          </a:xfrm>
          <a:prstGeom prst="rect">
            <a:avLst/>
          </a:prstGeom>
        </p:spPr>
      </p:pic>
      <p:sp>
        <p:nvSpPr>
          <p:cNvPr id="15" name="Step title 3"/>
          <p:cNvSpPr txBox="1"/>
          <p:nvPr/>
        </p:nvSpPr>
        <p:spPr>
          <a:xfrm>
            <a:off x="475488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Freestyle VM</a:t>
            </a:r>
            <a:endParaRPr lang="en-US" sz="1600" dirty="0"/>
          </a:p>
        </p:txBody>
      </p:sp>
      <p:sp>
        <p:nvSpPr>
          <p:cNvPr id="16" name="Step text 3"/>
          <p:cNvSpPr txBox="1"/>
          <p:nvPr/>
        </p:nvSpPr>
        <p:spPr>
          <a:xfrm>
            <a:off x="475488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in a clean VM</a:t>
            </a:r>
            <a:endParaRPr lang="en-US" sz="1400" dirty="0"/>
          </a:p>
        </p:txBody>
      </p:sp>
      <p:sp>
        <p:nvSpPr>
          <p:cNvPr id="17" name="Arrow 3"/>
          <p:cNvSpPr/>
          <p:nvPr/>
        </p:nvSpPr>
        <p:spPr>
          <a:xfrm>
            <a:off x="5989320" y="1600200"/>
            <a:ext cx="777240" cy="0"/>
          </a:xfrm>
          <a:prstGeom prst="line">
            <a:avLst/>
          </a:prstGeom>
          <a:noFill/>
          <a:ln w="19050">
            <a:solidFill>
              <a:srgbClr val="F2A43A"/>
            </a:solidFill>
            <a:prstDash val="solid"/>
            <a:tailEnd type="triangle"/>
          </a:ln>
        </p:spPr>
      </p:sp>
      <p:sp>
        <p:nvSpPr>
          <p:cNvPr id="18" name="Step 4 ring"/>
          <p:cNvSpPr/>
          <p:nvPr/>
        </p:nvSpPr>
        <p:spPr>
          <a:xfrm>
            <a:off x="7269480" y="1280160"/>
            <a:ext cx="640080" cy="64008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19" name="Step 4 icon" descr="Step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302" y="1452982"/>
            <a:ext cx="294437" cy="294437"/>
          </a:xfrm>
          <a:prstGeom prst="rect">
            <a:avLst/>
          </a:prstGeom>
        </p:spPr>
      </p:pic>
      <p:sp>
        <p:nvSpPr>
          <p:cNvPr id="20" name="Step title 4"/>
          <p:cNvSpPr txBox="1"/>
          <p:nvPr/>
        </p:nvSpPr>
        <p:spPr>
          <a:xfrm>
            <a:off x="676656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600" dirty="0"/>
          </a:p>
        </p:txBody>
      </p:sp>
      <p:sp>
        <p:nvSpPr>
          <p:cNvPr id="21" name="Step text 4"/>
          <p:cNvSpPr txBox="1"/>
          <p:nvPr/>
        </p:nvSpPr>
        <p:spPr>
          <a:xfrm>
            <a:off x="676656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 merges</a:t>
            </a:r>
            <a:endParaRPr lang="en-US" sz="1400" dirty="0"/>
          </a:p>
        </p:txBody>
      </p:sp>
      <p:sp>
        <p:nvSpPr>
          <p:cNvPr id="22" name="Diff card"/>
          <p:cNvSpPr/>
          <p:nvPr/>
        </p:nvSpPr>
        <p:spPr>
          <a:xfrm>
            <a:off x="731520" y="3017520"/>
            <a:ext cx="7680960" cy="1600200"/>
          </a:xfrm>
          <a:prstGeom prst="roundRect">
            <a:avLst>
              <a:gd name="adj" fmla="val 4571"/>
            </a:avLst>
          </a:prstGeom>
          <a:solidFill>
            <a:srgbClr val="0F1115"/>
          </a:solidFill>
          <a:ln w="9525">
            <a:solidFill>
              <a:srgbClr val="343843"/>
            </a:solidFill>
            <a:prstDash val="solid"/>
          </a:ln>
        </p:spPr>
      </p:sp>
      <p:sp>
        <p:nvSpPr>
          <p:cNvPr id="23" name="Diff file"/>
          <p:cNvSpPr txBox="1"/>
          <p:nvPr/>
        </p:nvSpPr>
        <p:spPr>
          <a:xfrm>
            <a:off x="960120" y="3154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3A7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company-repo / images.js</a:t>
            </a:r>
            <a:endParaRPr lang="en-US" sz="1200" dirty="0"/>
          </a:p>
        </p:txBody>
      </p:sp>
      <p:sp>
        <p:nvSpPr>
          <p:cNvPr id="24" name="Pass badge"/>
          <p:cNvSpPr/>
          <p:nvPr/>
        </p:nvSpPr>
        <p:spPr>
          <a:xfrm>
            <a:off x="6720840" y="313639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0F1115"/>
          </a:solidFill>
          <a:ln w="15875">
            <a:solidFill>
              <a:srgbClr val="4CC38A"/>
            </a:solidFill>
            <a:prstDash val="solid"/>
          </a:ln>
        </p:spPr>
      </p:sp>
      <p:sp>
        <p:nvSpPr>
          <p:cNvPr id="25" name="Pass badge text"/>
          <p:cNvSpPr txBox="1"/>
          <p:nvPr/>
        </p:nvSpPr>
        <p:spPr>
          <a:xfrm>
            <a:off x="6720840" y="3136392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CC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200" dirty="0"/>
          </a:p>
        </p:txBody>
      </p:sp>
      <p:sp>
        <p:nvSpPr>
          <p:cNvPr id="26" name="Diff removed"/>
          <p:cNvSpPr txBox="1"/>
          <p:nvPr/>
        </p:nvSpPr>
        <p:spPr>
          <a:xfrm>
            <a:off x="960120" y="35661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70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body: { prompt, size, user }</a:t>
            </a:r>
            <a:endParaRPr lang="en-US" sz="1600" dirty="0"/>
          </a:p>
        </p:txBody>
      </p:sp>
      <p:sp>
        <p:nvSpPr>
          <p:cNvPr id="27" name="Diff added"/>
          <p:cNvSpPr txBox="1"/>
          <p:nvPr/>
        </p:nvSpPr>
        <p:spPr>
          <a:xfrm>
            <a:off x="960120" y="40233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C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body: { prompt, size, model, safety_identifier }</a:t>
            </a:r>
            <a:endParaRPr lang="en-US" sz="1600" dirty="0"/>
          </a:p>
        </p:txBody>
      </p:sp>
      <p:sp>
        <p:nvSpPr>
          <p:cNvPr id="28" name="Differentiator"/>
          <p:cNvSpPr txBox="1"/>
          <p:nvPr/>
        </p:nvSpPr>
        <p:spPr>
          <a:xfrm>
            <a:off x="731520" y="4663440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2A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bots start from each repo; Patchbay starts from the provider, with one agent-readable change feed that any coding agent can turn into a tested pull request for every developer team.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45720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F4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3600" dirty="0"/>
          </a:p>
        </p:txBody>
      </p:sp>
      <p:sp>
        <p:nvSpPr>
          <p:cNvPr id="3" name="Next card 1"/>
          <p:cNvSpPr/>
          <p:nvPr/>
        </p:nvSpPr>
        <p:spPr>
          <a:xfrm>
            <a:off x="731520" y="1417320"/>
            <a:ext cx="2377440" cy="2286000"/>
          </a:xfrm>
          <a:prstGeom prst="roundRect">
            <a:avLst>
              <a:gd name="adj" fmla="val 3200"/>
            </a:avLst>
          </a:prstGeom>
          <a:solidFill>
            <a:srgbClr val="1F222A"/>
          </a:solidFill>
          <a:ln w="9525">
            <a:solidFill>
              <a:srgbClr val="343843"/>
            </a:solidFill>
            <a:prstDash val="solid"/>
          </a:ln>
        </p:spPr>
      </p:sp>
      <p:sp>
        <p:nvSpPr>
          <p:cNvPr id="4" name="Next 1 ring"/>
          <p:cNvSpPr/>
          <p:nvPr/>
        </p:nvSpPr>
        <p:spPr>
          <a:xfrm>
            <a:off x="914400" y="1645920"/>
            <a:ext cx="731520" cy="73152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5" name="Next 1 icon" descr="Next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843430"/>
            <a:ext cx="336499" cy="336499"/>
          </a:xfrm>
          <a:prstGeom prst="rect">
            <a:avLst/>
          </a:prstGeom>
        </p:spPr>
      </p:pic>
      <p:sp>
        <p:nvSpPr>
          <p:cNvPr id="6" name="Next title 1"/>
          <p:cNvSpPr txBox="1"/>
          <p:nvPr/>
        </p:nvSpPr>
        <p:spPr>
          <a:xfrm>
            <a:off x="91440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providers</a:t>
            </a:r>
            <a:endParaRPr lang="en-US" sz="2000" dirty="0"/>
          </a:p>
        </p:txBody>
      </p:sp>
      <p:sp>
        <p:nvSpPr>
          <p:cNvPr id="7" name="Next text 1"/>
          <p:cNvSpPr txBox="1"/>
          <p:nvPr/>
        </p:nvSpPr>
        <p:spPr>
          <a:xfrm>
            <a:off x="91440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change done. Stripe next</a:t>
            </a:r>
            <a:endParaRPr lang="en-US" sz="1400" dirty="0"/>
          </a:p>
        </p:txBody>
      </p:sp>
      <p:sp>
        <p:nvSpPr>
          <p:cNvPr id="8" name="Next card 2"/>
          <p:cNvSpPr/>
          <p:nvPr/>
        </p:nvSpPr>
        <p:spPr>
          <a:xfrm>
            <a:off x="3383280" y="1417320"/>
            <a:ext cx="2377440" cy="2286000"/>
          </a:xfrm>
          <a:prstGeom prst="roundRect">
            <a:avLst>
              <a:gd name="adj" fmla="val 3200"/>
            </a:avLst>
          </a:prstGeom>
          <a:solidFill>
            <a:srgbClr val="1F222A"/>
          </a:solidFill>
          <a:ln w="9525">
            <a:solidFill>
              <a:srgbClr val="343843"/>
            </a:solidFill>
            <a:prstDash val="solid"/>
          </a:ln>
        </p:spPr>
      </p:sp>
      <p:sp>
        <p:nvSpPr>
          <p:cNvPr id="9" name="Next 2 ring"/>
          <p:cNvSpPr/>
          <p:nvPr/>
        </p:nvSpPr>
        <p:spPr>
          <a:xfrm>
            <a:off x="3566160" y="1645920"/>
            <a:ext cx="731520" cy="73152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10" name="Next 2 icon" descr="Next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3670" y="1843430"/>
            <a:ext cx="336499" cy="336499"/>
          </a:xfrm>
          <a:prstGeom prst="rect">
            <a:avLst/>
          </a:prstGeom>
        </p:spPr>
      </p:pic>
      <p:sp>
        <p:nvSpPr>
          <p:cNvPr id="11" name="Next title 2"/>
          <p:cNvSpPr txBox="1"/>
          <p:nvPr/>
        </p:nvSpPr>
        <p:spPr>
          <a:xfrm>
            <a:off x="356616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ship</a:t>
            </a:r>
            <a:endParaRPr lang="en-US" sz="2000" dirty="0"/>
          </a:p>
        </p:txBody>
      </p:sp>
      <p:sp>
        <p:nvSpPr>
          <p:cNvPr id="12" name="Next text 2"/>
          <p:cNvSpPr txBox="1"/>
          <p:nvPr/>
        </p:nvSpPr>
        <p:spPr>
          <a:xfrm>
            <a:off x="356616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Per-provider agents or one neutral service</a:t>
            </a:r>
            <a:endParaRPr lang="en-US" sz="1400" dirty="0"/>
          </a:p>
        </p:txBody>
      </p:sp>
      <p:sp>
        <p:nvSpPr>
          <p:cNvPr id="13" name="Next card 3"/>
          <p:cNvSpPr/>
          <p:nvPr/>
        </p:nvSpPr>
        <p:spPr>
          <a:xfrm>
            <a:off x="6035040" y="1417320"/>
            <a:ext cx="2377440" cy="2286000"/>
          </a:xfrm>
          <a:prstGeom prst="roundRect">
            <a:avLst>
              <a:gd name="adj" fmla="val 3200"/>
            </a:avLst>
          </a:prstGeom>
          <a:solidFill>
            <a:srgbClr val="1F222A"/>
          </a:solidFill>
          <a:ln w="9525">
            <a:solidFill>
              <a:srgbClr val="343843"/>
            </a:solidFill>
            <a:prstDash val="solid"/>
          </a:ln>
        </p:spPr>
      </p:sp>
      <p:sp>
        <p:nvSpPr>
          <p:cNvPr id="14" name="Next 3 ring"/>
          <p:cNvSpPr/>
          <p:nvPr/>
        </p:nvSpPr>
        <p:spPr>
          <a:xfrm>
            <a:off x="6217920" y="1645920"/>
            <a:ext cx="731520" cy="731520"/>
          </a:xfrm>
          <a:prstGeom prst="ellipse">
            <a:avLst/>
          </a:prstGeom>
          <a:solidFill>
            <a:srgbClr val="15171C"/>
          </a:solidFill>
          <a:ln w="28575">
            <a:solidFill>
              <a:srgbClr val="F2A43A"/>
            </a:solidFill>
            <a:prstDash val="solid"/>
          </a:ln>
        </p:spPr>
      </p:sp>
      <p:pic>
        <p:nvPicPr>
          <p:cNvPr id="15" name="Next 3 icon" descr="Next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430" y="1843430"/>
            <a:ext cx="336499" cy="336499"/>
          </a:xfrm>
          <a:prstGeom prst="rect">
            <a:avLst/>
          </a:prstGeom>
        </p:spPr>
      </p:pic>
      <p:sp>
        <p:nvSpPr>
          <p:cNvPr id="16" name="Next title 3"/>
          <p:cNvSpPr txBox="1"/>
          <p:nvPr/>
        </p:nvSpPr>
        <p:spPr>
          <a:xfrm>
            <a:off x="6217920" y="2651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pay</a:t>
            </a:r>
            <a:endParaRPr lang="en-US" sz="2000" dirty="0"/>
          </a:p>
        </p:txBody>
      </p:sp>
      <p:sp>
        <p:nvSpPr>
          <p:cNvPr id="17" name="Next text 3"/>
          <p:cNvSpPr txBox="1"/>
          <p:nvPr/>
        </p:nvSpPr>
        <p:spPr>
          <a:xfrm>
            <a:off x="6217920" y="30632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3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teams review and merge</a:t>
            </a:r>
            <a:endParaRPr lang="en-US" sz="1400" dirty="0"/>
          </a:p>
        </p:txBody>
      </p:sp>
      <p:sp>
        <p:nvSpPr>
          <p:cNvPr id="18" name="Closing line"/>
          <p:cNvSpPr txBox="1"/>
          <p:nvPr/>
        </p:nvSpPr>
        <p:spPr>
          <a:xfrm>
            <a:off x="731520" y="40690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provider ships once. Every developer team gets a tested PR.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Patchbay</dc:title>
  <dc:subject>PptxGenJS Presentation</dc:subject>
  <dc:creator>PptxGenJS</dc:creator>
  <cp:lastModifiedBy>PptxGenJS</cp:lastModifiedBy>
  <cp:revision>1</cp:revision>
  <dcterms:created xsi:type="dcterms:W3CDTF">2026-10-17T20:20:49Z</dcterms:created>
  <dcterms:modified xsi:type="dcterms:W3CDTF">2026-10-17T20:20:49Z</dcterms:modified>
</cp:coreProperties>
</file>